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Bluescreens Bold" charset="1" panose="02000806040000020004"/>
      <p:regular r:id="rId14"/>
    </p:embeddedFont>
    <p:embeddedFont>
      <p:font typeface="Cy Grotesk Key Bold" charset="1" panose="00000800000000000000"/>
      <p:regular r:id="rId15"/>
    </p:embeddedFont>
    <p:embeddedFont>
      <p:font typeface="Cy Grotesk Key" charset="1" panose="00000500000000000000"/>
      <p:regular r:id="rId16"/>
    </p:embeddedFont>
    <p:embeddedFont>
      <p:font typeface="Canva Sans" charset="1" panose="020B0503030501040103"/>
      <p:regular r:id="rId17"/>
    </p:embeddedFont>
    <p:embeddedFont>
      <p:font typeface="Canva Sans Bold" charset="1" panose="020B0803030501040103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0E3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66675" cap="rnd">
              <a:solidFill>
                <a:srgbClr val="FFFCFA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418499" cy="8229600"/>
            <a:chOff x="0" y="0"/>
            <a:chExt cx="4324214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421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24214">
                  <a:moveTo>
                    <a:pt x="24048" y="0"/>
                  </a:moveTo>
                  <a:lnTo>
                    <a:pt x="4300165" y="0"/>
                  </a:lnTo>
                  <a:cubicBezTo>
                    <a:pt x="4313447" y="0"/>
                    <a:pt x="4324214" y="10767"/>
                    <a:pt x="4324214" y="24048"/>
                  </a:cubicBezTo>
                  <a:lnTo>
                    <a:pt x="4324214" y="2143418"/>
                  </a:lnTo>
                  <a:cubicBezTo>
                    <a:pt x="4324214" y="2156700"/>
                    <a:pt x="4313447" y="2167467"/>
                    <a:pt x="4300165" y="2167467"/>
                  </a:cubicBezTo>
                  <a:lnTo>
                    <a:pt x="24048" y="2167467"/>
                  </a:lnTo>
                  <a:cubicBezTo>
                    <a:pt x="10767" y="2167467"/>
                    <a:pt x="0" y="2156700"/>
                    <a:pt x="0" y="2143418"/>
                  </a:cubicBezTo>
                  <a:lnTo>
                    <a:pt x="0" y="24048"/>
                  </a:lnTo>
                  <a:cubicBezTo>
                    <a:pt x="0" y="10767"/>
                    <a:pt x="10767" y="0"/>
                    <a:pt x="2404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8000"/>
                  </a:srgbClr>
                </a:gs>
                <a:gs pos="100000">
                  <a:srgbClr val="9B9B9B">
                    <a:alpha val="567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2421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5215545" y="4161801"/>
            <a:ext cx="20947858" cy="37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05"/>
              </a:lnSpc>
            </a:pPr>
            <a:r>
              <a:rPr lang="en-US" b="true" sz="29154" spc="-932">
                <a:solidFill>
                  <a:srgbClr val="FFFFFF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WEB3 GUARD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61510" y="2097944"/>
            <a:ext cx="4170803" cy="1105105"/>
            <a:chOff x="0" y="0"/>
            <a:chExt cx="5561071" cy="1473473"/>
          </a:xfrm>
        </p:grpSpPr>
        <p:grpSp>
          <p:nvGrpSpPr>
            <p:cNvPr name="Group 10" id="10"/>
            <p:cNvGrpSpPr/>
            <p:nvPr/>
          </p:nvGrpSpPr>
          <p:grpSpPr>
            <a:xfrm rot="-10800000">
              <a:off x="70462" y="0"/>
              <a:ext cx="5490609" cy="984665"/>
              <a:chOff x="0" y="0"/>
              <a:chExt cx="1084565" cy="19450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84565" cy="194502"/>
              </a:xfrm>
              <a:custGeom>
                <a:avLst/>
                <a:gdLst/>
                <a:ahLst/>
                <a:cxnLst/>
                <a:rect r="r" b="b" t="t" l="l"/>
                <a:pathLst>
                  <a:path h="194502" w="1084565">
                    <a:moveTo>
                      <a:pt x="97251" y="0"/>
                    </a:moveTo>
                    <a:lnTo>
                      <a:pt x="987314" y="0"/>
                    </a:lnTo>
                    <a:cubicBezTo>
                      <a:pt x="1041024" y="0"/>
                      <a:pt x="1084565" y="43541"/>
                      <a:pt x="1084565" y="97251"/>
                    </a:cubicBezTo>
                    <a:lnTo>
                      <a:pt x="1084565" y="97251"/>
                    </a:lnTo>
                    <a:cubicBezTo>
                      <a:pt x="1084565" y="123043"/>
                      <a:pt x="1074319" y="147779"/>
                      <a:pt x="1056081" y="166018"/>
                    </a:cubicBezTo>
                    <a:cubicBezTo>
                      <a:pt x="1037843" y="184256"/>
                      <a:pt x="1013106" y="194502"/>
                      <a:pt x="987314" y="194502"/>
                    </a:cubicBezTo>
                    <a:lnTo>
                      <a:pt x="97251" y="194502"/>
                    </a:lnTo>
                    <a:cubicBezTo>
                      <a:pt x="71458" y="194502"/>
                      <a:pt x="46722" y="184256"/>
                      <a:pt x="28484" y="166018"/>
                    </a:cubicBezTo>
                    <a:cubicBezTo>
                      <a:pt x="10246" y="147779"/>
                      <a:pt x="0" y="123043"/>
                      <a:pt x="0" y="97251"/>
                    </a:cubicBezTo>
                    <a:lnTo>
                      <a:pt x="0" y="97251"/>
                    </a:lnTo>
                    <a:cubicBezTo>
                      <a:pt x="0" y="71458"/>
                      <a:pt x="10246" y="46722"/>
                      <a:pt x="28484" y="28484"/>
                    </a:cubicBezTo>
                    <a:cubicBezTo>
                      <a:pt x="46722" y="10246"/>
                      <a:pt x="71458" y="0"/>
                      <a:pt x="97251" y="0"/>
                    </a:cubicBezTo>
                    <a:close/>
                  </a:path>
                </a:pathLst>
              </a:custGeom>
              <a:solidFill>
                <a:srgbClr val="5462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084565" cy="2421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9414587">
              <a:off x="53705" y="1050423"/>
              <a:ext cx="408333" cy="357291"/>
              <a:chOff x="0" y="0"/>
              <a:chExt cx="812800" cy="711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63656" y="88023"/>
                <a:ext cx="685488" cy="623177"/>
              </a:xfrm>
              <a:custGeom>
                <a:avLst/>
                <a:gdLst/>
                <a:ahLst/>
                <a:cxnLst/>
                <a:rect r="r" b="b" t="t" l="l"/>
                <a:pathLst>
                  <a:path h="623177" w="685488">
                    <a:moveTo>
                      <a:pt x="417998" y="43671"/>
                    </a:moveTo>
                    <a:lnTo>
                      <a:pt x="673890" y="491483"/>
                    </a:lnTo>
                    <a:cubicBezTo>
                      <a:pt x="689458" y="518726"/>
                      <a:pt x="689346" y="552197"/>
                      <a:pt x="673597" y="579335"/>
                    </a:cubicBezTo>
                    <a:cubicBezTo>
                      <a:pt x="657848" y="606474"/>
                      <a:pt x="628843" y="623177"/>
                      <a:pt x="597465" y="623177"/>
                    </a:cubicBezTo>
                    <a:lnTo>
                      <a:pt x="88023" y="623177"/>
                    </a:lnTo>
                    <a:cubicBezTo>
                      <a:pt x="56645" y="623177"/>
                      <a:pt x="27640" y="606474"/>
                      <a:pt x="11891" y="579335"/>
                    </a:cubicBezTo>
                    <a:cubicBezTo>
                      <a:pt x="-3858" y="552197"/>
                      <a:pt x="-3970" y="518726"/>
                      <a:pt x="11598" y="491483"/>
                    </a:cubicBezTo>
                    <a:lnTo>
                      <a:pt x="267490" y="43671"/>
                    </a:lnTo>
                    <a:cubicBezTo>
                      <a:pt x="282922" y="16666"/>
                      <a:pt x="311641" y="0"/>
                      <a:pt x="342744" y="0"/>
                    </a:cubicBezTo>
                    <a:cubicBezTo>
                      <a:pt x="373847" y="0"/>
                      <a:pt x="402566" y="16666"/>
                      <a:pt x="417998" y="43671"/>
                    </a:cubicBezTo>
                    <a:close/>
                  </a:path>
                </a:pathLst>
              </a:custGeom>
              <a:solidFill>
                <a:srgbClr val="5462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84872" y="127207"/>
              <a:ext cx="4810827" cy="663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FFFCFA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PROJECT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319604" y="2257785"/>
            <a:ext cx="8241906" cy="87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  <a:spcBef>
                <a:spcPct val="0"/>
              </a:spcBef>
            </a:pPr>
            <a:r>
              <a:rPr lang="en-US" b="true" sz="2525">
                <a:solidFill>
                  <a:srgbClr val="FFFCFA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The Intelligent Multi-Chain Auditing &amp; Security Oracle </a:t>
            </a:r>
          </a:p>
        </p:txBody>
      </p:sp>
      <p:sp>
        <p:nvSpPr>
          <p:cNvPr name="AutoShape 18" id="18"/>
          <p:cNvSpPr/>
          <p:nvPr/>
        </p:nvSpPr>
        <p:spPr>
          <a:xfrm>
            <a:off x="4917444" y="7501116"/>
            <a:ext cx="10348211" cy="0"/>
          </a:xfrm>
          <a:prstGeom prst="line">
            <a:avLst/>
          </a:prstGeom>
          <a:ln cap="flat" w="38100">
            <a:solidFill>
              <a:srgbClr val="FFFF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3250977" y="8560200"/>
            <a:ext cx="4962673" cy="530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  <a:spcBef>
                <a:spcPct val="0"/>
              </a:spcBef>
            </a:pPr>
            <a:r>
              <a:rPr lang="en-US" sz="3125" spc="-62">
                <a:solidFill>
                  <a:srgbClr val="FFFCFA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LOHIT MISHRA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40557" y="8651633"/>
            <a:ext cx="6057756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CFA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Built for Stellar &amp; Soroban by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0E3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0570" y="1274891"/>
            <a:ext cx="4705781" cy="73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30"/>
              </a:lnSpc>
              <a:spcBef>
                <a:spcPct val="0"/>
              </a:spcBef>
            </a:pPr>
            <a:r>
              <a:rPr lang="en-US" b="true" sz="4307" spc="-86">
                <a:solidFill>
                  <a:srgbClr val="FFFCFA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Smart Contract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86351" y="1291776"/>
            <a:ext cx="5122622" cy="72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1"/>
              </a:lnSpc>
              <a:spcBef>
                <a:spcPct val="0"/>
              </a:spcBef>
            </a:pPr>
            <a:r>
              <a:rPr lang="en-US" b="true" sz="4222" spc="-84">
                <a:solidFill>
                  <a:srgbClr val="5462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Security is Broken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03434" y="3045762"/>
            <a:ext cx="10366704" cy="8073778"/>
            <a:chOff x="0" y="0"/>
            <a:chExt cx="13822272" cy="10765037"/>
          </a:xfrm>
        </p:grpSpPr>
        <p:sp>
          <p:nvSpPr>
            <p:cNvPr name="AutoShape 5" id="5"/>
            <p:cNvSpPr/>
            <p:nvPr/>
          </p:nvSpPr>
          <p:spPr>
            <a:xfrm>
              <a:off x="0" y="10739637"/>
              <a:ext cx="13780469" cy="0"/>
            </a:xfrm>
            <a:prstGeom prst="line">
              <a:avLst/>
            </a:prstGeom>
            <a:ln cap="flat" w="50800">
              <a:solidFill>
                <a:srgbClr val="FFFFFF">
                  <a:alpha val="36863"/>
                </a:srgbClr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41802" y="6025809"/>
              <a:ext cx="6848432" cy="598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8"/>
                </a:lnSpc>
                <a:spcBef>
                  <a:spcPct val="0"/>
                </a:spcBef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1802" y="-57150"/>
              <a:ext cx="13780469" cy="58739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6259" indent="-323129" lvl="1">
                <a:lnSpc>
                  <a:spcPts val="4190"/>
                </a:lnSpc>
                <a:buFont typeface="Arial"/>
                <a:buChar char="•"/>
              </a:pPr>
              <a:r>
                <a:rPr lang="en-US" sz="2993" spc="-59">
                  <a:solidFill>
                    <a:srgbClr val="FFFCF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Manual Audits are Slow: Traditional security audits take weeks and cost thousands of dollars.</a:t>
              </a:r>
            </a:p>
            <a:p>
              <a:pPr algn="just" marL="646259" indent="-323129" lvl="1">
                <a:lnSpc>
                  <a:spcPts val="4190"/>
                </a:lnSpc>
                <a:buFont typeface="Arial"/>
                <a:buChar char="•"/>
              </a:pPr>
              <a:r>
                <a:rPr lang="en-US" sz="2993" spc="-59">
                  <a:solidFill>
                    <a:srgbClr val="FFFCF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Reactive, Not Proactive: Developers usually find out about vulnerabilities after code is merged or deployed.</a:t>
              </a:r>
            </a:p>
            <a:p>
              <a:pPr algn="just" marL="646259" indent="-323129" lvl="1">
                <a:lnSpc>
                  <a:spcPts val="419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93" spc="-59">
                  <a:solidFill>
                    <a:srgbClr val="FFFCF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Zero-Trust Accountability: Users have no verifiable way to prove a contract was actually audited before they connect their wallets.</a:t>
              </a:r>
            </a:p>
            <a:p>
              <a:pPr algn="just">
                <a:lnSpc>
                  <a:spcPts val="629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1802" y="8085090"/>
              <a:ext cx="6848432" cy="598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8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1802" y="7467158"/>
              <a:ext cx="1748031" cy="598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8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319061" y="7143693"/>
              <a:ext cx="6503211" cy="32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90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862794"/>
              <a:ext cx="6848432" cy="598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98"/>
                </a:lnSpc>
                <a:spcBef>
                  <a:spcPct val="0"/>
                </a:spcBef>
              </a:pPr>
              <a:r>
                <a:rPr lang="en-US" b="true" sz="2713" spc="-54">
                  <a:solidFill>
                    <a:srgbClr val="FFFCFA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Rimberio University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0E3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82672" y="914400"/>
            <a:ext cx="5361328" cy="10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  <a:spcBef>
                <a:spcPct val="0"/>
              </a:spcBef>
            </a:pPr>
            <a:r>
              <a:rPr lang="en-US" b="true" sz="5819" spc="-116">
                <a:solidFill>
                  <a:srgbClr val="FFFCFA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Autonomous,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9380" y="985594"/>
            <a:ext cx="11861486" cy="929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7"/>
              </a:lnSpc>
              <a:spcBef>
                <a:spcPct val="0"/>
              </a:spcBef>
            </a:pPr>
            <a:r>
              <a:rPr lang="en-US" b="true" sz="5419" spc="-108">
                <a:solidFill>
                  <a:srgbClr val="5462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On-Chain Security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1762" y="2572571"/>
            <a:ext cx="13264475" cy="300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28308" indent="-264154" lvl="1">
              <a:lnSpc>
                <a:spcPts val="3425"/>
              </a:lnSpc>
              <a:buFont typeface="Arial"/>
              <a:buChar char="•"/>
            </a:pPr>
            <a:r>
              <a:rPr lang="en-US" sz="2447" spc="-48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AI-Powered: Uses Google Gemini to detect complex zero-day vulnerabilities in Soroban Rust and Solidity.</a:t>
            </a:r>
          </a:p>
          <a:p>
            <a:pPr algn="ctr" marL="528308" indent="-264154" lvl="1">
              <a:lnSpc>
                <a:spcPts val="3425"/>
              </a:lnSpc>
              <a:buFont typeface="Arial"/>
              <a:buChar char="•"/>
            </a:pPr>
            <a:r>
              <a:rPr lang="en-US" sz="2447" spc="-48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Cryptographically Anchored: Every audit is hashed and stored immutably on the Stellar blockchain via a native Soroban smart contract.</a:t>
            </a:r>
          </a:p>
          <a:p>
            <a:pPr algn="ctr" marL="528308" indent="-264154" lvl="1">
              <a:lnSpc>
                <a:spcPts val="3425"/>
              </a:lnSpc>
              <a:buFont typeface="Arial"/>
              <a:buChar char="•"/>
            </a:pPr>
            <a:r>
              <a:rPr lang="en-US" sz="2447" spc="-48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Real-Time Protection: Monitors live blockchain transactions using Stellar Horizon SSE to detect anomalies instantly.</a:t>
            </a:r>
          </a:p>
          <a:p>
            <a:pPr algn="ctr">
              <a:lnSpc>
                <a:spcPts val="34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0E3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7966" y="2466025"/>
            <a:ext cx="11579254" cy="4937014"/>
          </a:xfrm>
          <a:custGeom>
            <a:avLst/>
            <a:gdLst/>
            <a:ahLst/>
            <a:cxnLst/>
            <a:rect r="r" b="b" t="t" l="l"/>
            <a:pathLst>
              <a:path h="4937014" w="11579254">
                <a:moveTo>
                  <a:pt x="0" y="0"/>
                </a:moveTo>
                <a:lnTo>
                  <a:pt x="11579254" y="0"/>
                </a:lnTo>
                <a:lnTo>
                  <a:pt x="11579254" y="4937013"/>
                </a:lnTo>
                <a:lnTo>
                  <a:pt x="0" y="4937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2" t="-1021" r="-8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1076" y="914400"/>
            <a:ext cx="5361328" cy="2034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</a:pPr>
            <a:r>
              <a:rPr lang="en-US" sz="5819" spc="-116" b="true">
                <a:solidFill>
                  <a:srgbClr val="FFFCFA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How It Works </a:t>
            </a:r>
          </a:p>
          <a:p>
            <a:pPr algn="l">
              <a:lnSpc>
                <a:spcPts val="814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965516" y="914400"/>
            <a:ext cx="5361328" cy="10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  <a:spcBef>
                <a:spcPct val="0"/>
              </a:spcBef>
            </a:pPr>
            <a:r>
              <a:rPr lang="en-US" b="true" sz="5819" spc="-116">
                <a:solidFill>
                  <a:srgbClr val="5462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(Architecture)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1840" y="2651591"/>
            <a:ext cx="6998557" cy="568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73739" indent="-436870" lvl="1">
              <a:lnSpc>
                <a:spcPts val="5665"/>
              </a:lnSpc>
              <a:buAutoNum type="arabicPeriod" startAt="1"/>
            </a:pPr>
            <a:r>
              <a:rPr lang="en-US" b="true" sz="4046" spc="-80">
                <a:solidFill>
                  <a:srgbClr val="FFFC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Developer pushes code → 2. GitHub App intercepts PR → </a:t>
            </a:r>
          </a:p>
          <a:p>
            <a:pPr algn="ctr">
              <a:lnSpc>
                <a:spcPts val="5665"/>
              </a:lnSpc>
            </a:pPr>
            <a:r>
              <a:rPr lang="en-US" b="true" sz="4046" spc="-80">
                <a:solidFill>
                  <a:srgbClr val="FFFC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AI Engine scans for vulns → 4. Auto-Fixes injected →</a:t>
            </a:r>
          </a:p>
          <a:p>
            <a:pPr algn="ctr">
              <a:lnSpc>
                <a:spcPts val="5665"/>
              </a:lnSpc>
            </a:pPr>
            <a:r>
              <a:rPr lang="en-US" b="true" sz="4046" spc="-80">
                <a:solidFill>
                  <a:srgbClr val="FFFCF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5. Audit Proof anchored to Stellar.</a:t>
            </a:r>
          </a:p>
          <a:p>
            <a:pPr algn="ctr">
              <a:lnSpc>
                <a:spcPts val="56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0E3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09796" y="914400"/>
            <a:ext cx="5361328" cy="10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  <a:spcBef>
                <a:spcPct val="0"/>
              </a:spcBef>
            </a:pPr>
            <a:r>
              <a:rPr lang="en-US" b="true" sz="5819" spc="-116">
                <a:solidFill>
                  <a:srgbClr val="FFFCFA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Built for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65516" y="914400"/>
            <a:ext cx="7957487" cy="10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  <a:spcBef>
                <a:spcPct val="0"/>
              </a:spcBef>
            </a:pPr>
            <a:r>
              <a:rPr lang="en-US" b="true" sz="5819" spc="-116">
                <a:solidFill>
                  <a:srgbClr val="5462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Production Scale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1762" y="2553521"/>
            <a:ext cx="14579479" cy="284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0683" indent="-290342" lvl="1">
              <a:lnSpc>
                <a:spcPts val="3765"/>
              </a:lnSpc>
              <a:buFont typeface="Arial"/>
              <a:buChar char="•"/>
            </a:pPr>
            <a:r>
              <a:rPr lang="en-US" sz="2689" spc="-53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Gasless Transactions: Implemented fee-bumps via Stellar SDK so users don't pay gas.</a:t>
            </a:r>
          </a:p>
          <a:p>
            <a:pPr algn="ctr" marL="580683" indent="-290342" lvl="1">
              <a:lnSpc>
                <a:spcPts val="3765"/>
              </a:lnSpc>
              <a:buFont typeface="Arial"/>
              <a:buChar char="•"/>
            </a:pPr>
            <a:r>
              <a:rPr lang="en-US" sz="2689" spc="-53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Auto-Fix PR Bot: Our native GitHub App actually writes secure code and opens fixing PRs for you.</a:t>
            </a:r>
          </a:p>
          <a:p>
            <a:pPr algn="ctr" marL="580683" indent="-290342" lvl="1">
              <a:lnSpc>
                <a:spcPts val="3765"/>
              </a:lnSpc>
              <a:buFont typeface="Arial"/>
              <a:buChar char="•"/>
            </a:pPr>
            <a:r>
              <a:rPr lang="en-US" sz="2689" spc="-53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Contextual AI Memory: Users can flag false positives, and our RAG engine dynamically learns to ignore them in the future.</a:t>
            </a:r>
          </a:p>
          <a:p>
            <a:pPr algn="ctr">
              <a:lnSpc>
                <a:spcPts val="376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0E3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4676" y="914400"/>
            <a:ext cx="5361328" cy="10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  <a:spcBef>
                <a:spcPct val="0"/>
              </a:spcBef>
            </a:pPr>
            <a:r>
              <a:rPr lang="en-US" b="true" sz="5819" spc="-116">
                <a:solidFill>
                  <a:srgbClr val="FFFCFA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Tested by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65516" y="914400"/>
            <a:ext cx="5361328" cy="10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  <a:spcBef>
                <a:spcPct val="0"/>
              </a:spcBef>
            </a:pPr>
            <a:r>
              <a:rPr lang="en-US" b="true" sz="5819" spc="-116">
                <a:solidFill>
                  <a:srgbClr val="5462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Real Users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3780" y="2791534"/>
            <a:ext cx="15280439" cy="296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8602" indent="-304301" lvl="1">
              <a:lnSpc>
                <a:spcPts val="3946"/>
              </a:lnSpc>
              <a:buFont typeface="Arial"/>
              <a:buChar char="•"/>
            </a:pPr>
            <a:r>
              <a:rPr lang="en-US" sz="2818" spc="-56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35+ Verified Wallets: Successfully tested and interacted with by over 35 unique Stellar wallets.</a:t>
            </a:r>
          </a:p>
          <a:p>
            <a:pPr algn="ctr" marL="608602" indent="-304301" lvl="1">
              <a:lnSpc>
                <a:spcPts val="3946"/>
              </a:lnSpc>
              <a:buFont typeface="Arial"/>
              <a:buChar char="•"/>
            </a:pPr>
            <a:r>
              <a:rPr lang="en-US" sz="2818" spc="-56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Feedback Driven: We actively collected feedback from 22 beta testers via Google Forms.</a:t>
            </a:r>
          </a:p>
          <a:p>
            <a:pPr algn="ctr" marL="608602" indent="-304301" lvl="1">
              <a:lnSpc>
                <a:spcPts val="3946"/>
              </a:lnSpc>
              <a:buFont typeface="Arial"/>
              <a:buChar char="•"/>
            </a:pPr>
            <a:r>
              <a:rPr lang="en-US" sz="2818" spc="-56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Rapid Iteration: Directly implemented 6 major UX improvements based on user complaints (e.g., added real-time scanning progress bars and improved PDF reports).</a:t>
            </a:r>
          </a:p>
          <a:p>
            <a:pPr algn="ctr">
              <a:lnSpc>
                <a:spcPts val="394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0E3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40996" y="914400"/>
            <a:ext cx="8601647" cy="10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  <a:spcBef>
                <a:spcPct val="0"/>
              </a:spcBef>
            </a:pPr>
            <a:r>
              <a:rPr lang="en-US" b="true" sz="5819" spc="-116">
                <a:solidFill>
                  <a:srgbClr val="FFFCFA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 What's Next for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44236" y="914400"/>
            <a:ext cx="5361328" cy="10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7"/>
              </a:lnSpc>
              <a:spcBef>
                <a:spcPct val="0"/>
              </a:spcBef>
            </a:pPr>
            <a:r>
              <a:rPr lang="en-US" b="true" sz="5819" spc="-116">
                <a:solidFill>
                  <a:srgbClr val="5462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Web3 Guard?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02556" y="3031526"/>
            <a:ext cx="15282888" cy="246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8699" indent="-304350" lvl="1">
              <a:lnSpc>
                <a:spcPts val="3947"/>
              </a:lnSpc>
              <a:buFont typeface="Arial"/>
              <a:buChar char="•"/>
            </a:pPr>
            <a:r>
              <a:rPr lang="en-US" sz="2819" spc="-56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Stellar Mainnet Launch: Migrating our Soroban registry from Testnet to Mainnet.</a:t>
            </a:r>
          </a:p>
          <a:p>
            <a:pPr algn="ctr" marL="608699" indent="-304350" lvl="1">
              <a:lnSpc>
                <a:spcPts val="3947"/>
              </a:lnSpc>
              <a:buFont typeface="Arial"/>
              <a:buChar char="•"/>
            </a:pPr>
            <a:r>
              <a:rPr lang="en-US" sz="2819" spc="-56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Mobile Guard App: Native iOS/Android app for push notifications on security threats.</a:t>
            </a:r>
          </a:p>
          <a:p>
            <a:pPr algn="ctr" marL="608699" indent="-304350" lvl="1">
              <a:lnSpc>
                <a:spcPts val="3947"/>
              </a:lnSpc>
              <a:buFont typeface="Arial"/>
              <a:buChar char="•"/>
            </a:pPr>
            <a:r>
              <a:rPr lang="en-US" sz="2819" spc="-56">
                <a:solidFill>
                  <a:srgbClr val="FFFCFA"/>
                </a:solidFill>
                <a:latin typeface="Canva Sans"/>
                <a:ea typeface="Canva Sans"/>
                <a:cs typeface="Canva Sans"/>
                <a:sym typeface="Canva Sans"/>
              </a:rPr>
              <a:t>Decentralized Security DAO: Allowing security researchers to govern and contribute to our heuristic models.</a:t>
            </a:r>
          </a:p>
          <a:p>
            <a:pPr algn="ctr">
              <a:lnSpc>
                <a:spcPts val="394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0E3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66675" cap="rnd">
              <a:solidFill>
                <a:srgbClr val="FFFCFA">
                  <a:alpha val="45882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418499" cy="8229600"/>
            <a:chOff x="0" y="0"/>
            <a:chExt cx="4324214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2421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324214">
                  <a:moveTo>
                    <a:pt x="24048" y="0"/>
                  </a:moveTo>
                  <a:lnTo>
                    <a:pt x="4300165" y="0"/>
                  </a:lnTo>
                  <a:cubicBezTo>
                    <a:pt x="4313447" y="0"/>
                    <a:pt x="4324214" y="10767"/>
                    <a:pt x="4324214" y="24048"/>
                  </a:cubicBezTo>
                  <a:lnTo>
                    <a:pt x="4324214" y="2143418"/>
                  </a:lnTo>
                  <a:cubicBezTo>
                    <a:pt x="4324214" y="2156700"/>
                    <a:pt x="4313447" y="2167467"/>
                    <a:pt x="4300165" y="2167467"/>
                  </a:cubicBezTo>
                  <a:lnTo>
                    <a:pt x="24048" y="2167467"/>
                  </a:lnTo>
                  <a:cubicBezTo>
                    <a:pt x="10767" y="2167467"/>
                    <a:pt x="0" y="2156700"/>
                    <a:pt x="0" y="2143418"/>
                  </a:cubicBezTo>
                  <a:lnTo>
                    <a:pt x="0" y="24048"/>
                  </a:lnTo>
                  <a:cubicBezTo>
                    <a:pt x="0" y="10767"/>
                    <a:pt x="10767" y="0"/>
                    <a:pt x="2404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8000"/>
                  </a:srgbClr>
                </a:gs>
                <a:gs pos="100000">
                  <a:srgbClr val="9B9B9B">
                    <a:alpha val="567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32421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47365" y="1581155"/>
            <a:ext cx="13581169" cy="506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81"/>
              </a:lnSpc>
            </a:pPr>
            <a:r>
              <a:rPr lang="en-US" b="true" sz="39661" spc="-1269">
                <a:solidFill>
                  <a:srgbClr val="FFFFFF"/>
                </a:solidFill>
                <a:latin typeface="TT Bluescreens Bold"/>
                <a:ea typeface="TT Bluescreens Bold"/>
                <a:cs typeface="TT Bluescreens Bold"/>
                <a:sym typeface="TT Bluescreens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94935" y="8568309"/>
            <a:ext cx="60287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Verify everything. Trust the chain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61630" y="8568309"/>
            <a:ext cx="406661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5462FF"/>
                </a:solidFill>
                <a:latin typeface="DM Sans"/>
                <a:ea typeface="DM Sans"/>
                <a:cs typeface="DM Sans"/>
                <a:sym typeface="DM Sans"/>
              </a:rPr>
              <a:t>Web3 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DAHOEhUcGP0</dc:identifier>
  <dcterms:modified xsi:type="dcterms:W3CDTF">2011-08-01T06:04:30Z</dcterms:modified>
  <cp:revision>1</cp:revision>
  <dc:title>Web3 Guard: Pitch Deck Content</dc:title>
</cp:coreProperties>
</file>